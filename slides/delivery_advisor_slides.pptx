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2"/>
  </p:normalViewPr>
  <p:slideViewPr>
    <p:cSldViewPr snapToGrid="0" snapToObjects="1">
      <p:cViewPr varScale="1">
        <p:scale>
          <a:sx n="120" d="100"/>
          <a:sy n="120" d="100"/>
        </p:scale>
        <p:origin x="44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471" y="23882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>
                <a:solidFill>
                  <a:srgbClr val="1A1A1A"/>
                </a:solidFill>
                <a:latin typeface="Calibri"/>
              </a:rPr>
              <a:t>Delivery Strategy Advisor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471" y="87379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555555"/>
                </a:solidFill>
                <a:latin typeface="Calibri"/>
              </a:rPr>
              <a:t>Given a cell type + Cas variant + edit type (or the upstream construct), ranks CRISPR delivery methods with rationale, KB citations, and a sanity-check on the builder's kit choice.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471" y="15087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dirty="0">
                <a:solidFill>
                  <a:srgbClr val="1A73E8"/>
                </a:solidFill>
                <a:latin typeface="Calibri"/>
              </a:rPr>
              <a:t>Example MCP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2140" y="1920240"/>
            <a:ext cx="4646427" cy="13679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 dirty="0">
                <a:solidFill>
                  <a:srgbClr val="1A1A1A"/>
                </a:solidFill>
                <a:latin typeface="Calibri"/>
              </a:rPr>
              <a:t>• </a:t>
            </a:r>
            <a:r>
              <a:rPr sz="1200" dirty="0">
                <a:solidFill>
                  <a:srgbClr val="1A1A1A"/>
                </a:solidFill>
                <a:latin typeface="Calibri"/>
              </a:rPr>
              <a:t>"What delivery method should I use for a SpCas9 knockout in HEK293 cells?"</a:t>
            </a:r>
          </a:p>
          <a:p>
            <a:pPr>
              <a:lnSpc>
                <a:spcPct val="125000"/>
              </a:lnSpc>
            </a:pPr>
            <a:r>
              <a:rPr sz="1200" b="1" dirty="0">
                <a:solidFill>
                  <a:srgbClr val="1A1A1A"/>
                </a:solidFill>
                <a:latin typeface="Calibri"/>
              </a:rPr>
              <a:t>• </a:t>
            </a:r>
            <a:r>
              <a:rPr sz="1200" dirty="0">
                <a:solidFill>
                  <a:srgbClr val="1A1A1A"/>
                </a:solidFill>
                <a:latin typeface="Calibri"/>
              </a:rPr>
              <a:t>"I want to use ABE8e to do a base edit in hepatocytes. What should I use?"   (cargo-limit edge case)</a:t>
            </a:r>
          </a:p>
          <a:p>
            <a:pPr>
              <a:lnSpc>
                <a:spcPct val="125000"/>
              </a:lnSpc>
            </a:pPr>
            <a:r>
              <a:rPr sz="1200" b="1" dirty="0">
                <a:solidFill>
                  <a:srgbClr val="1A1A1A"/>
                </a:solidFill>
                <a:latin typeface="Calibri"/>
              </a:rPr>
              <a:t>• </a:t>
            </a:r>
            <a:r>
              <a:rPr sz="1200" dirty="0">
                <a:solidFill>
                  <a:srgbClr val="1A1A1A"/>
                </a:solidFill>
                <a:latin typeface="Calibri"/>
              </a:rPr>
              <a:t>"Here is the construction file from the builder: {…}. What delivery should I use, and does the kit choice make sense?"   (pipeline integration)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3668232"/>
            <a:ext cx="4937760" cy="1913862"/>
          </a:xfrm>
          <a:prstGeom prst="roundRect">
            <a:avLst/>
          </a:prstGeom>
          <a:solidFill>
            <a:srgbClr val="EAF3FD"/>
          </a:solidFill>
          <a:ln w="63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2140" y="392766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dirty="0">
                <a:solidFill>
                  <a:srgbClr val="1A73E8"/>
                </a:solidFill>
                <a:latin typeface="Calibri"/>
              </a:rPr>
              <a:t>What's unusual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2140" y="438912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dirty="0">
                <a:solidFill>
                  <a:srgbClr val="1A1A1A"/>
                </a:solidFill>
                <a:latin typeface="Calibri"/>
              </a:rPr>
              <a:t>The advisor doesn't just recommend a method — it audits the upstream builder's</a:t>
            </a:r>
          </a:p>
          <a:p>
            <a:pPr algn="l">
              <a:lnSpc>
                <a:spcPct val="115000"/>
              </a:lnSpc>
            </a:pPr>
            <a:r>
              <a:rPr sz="1200" b="0" dirty="0" err="1">
                <a:solidFill>
                  <a:srgbClr val="1A1A1A"/>
                </a:solidFill>
                <a:latin typeface="Calibri"/>
              </a:rPr>
              <a:t>kit_choice</a:t>
            </a:r>
            <a:r>
              <a:rPr sz="1200" b="0" dirty="0">
                <a:solidFill>
                  <a:srgbClr val="1A1A1A"/>
                </a:solidFill>
                <a:latin typeface="Calibri"/>
              </a:rPr>
              <a:t> and surfaces agreement or disagreement in a </a:t>
            </a:r>
            <a:r>
              <a:rPr sz="1200" b="0" dirty="0" err="1">
                <a:solidFill>
                  <a:srgbClr val="1A1A1A"/>
                </a:solidFill>
                <a:latin typeface="Calibri"/>
              </a:rPr>
              <a:t>kit_choice_consistency</a:t>
            </a:r>
            <a:r>
              <a:rPr sz="1200" b="0" dirty="0">
                <a:solidFill>
                  <a:srgbClr val="1A1A1A"/>
                </a:solidFill>
                <a:latin typeface="Calibri"/>
              </a:rPr>
              <a:t> block.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50876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dirty="0">
                <a:solidFill>
                  <a:srgbClr val="1A73E8"/>
                </a:solidFill>
                <a:latin typeface="Calibri"/>
              </a:rPr>
              <a:t>Input  (from Construction File Builder)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7502" y="1805939"/>
            <a:ext cx="5299268" cy="1712905"/>
          </a:xfrm>
          <a:prstGeom prst="roundRect">
            <a:avLst/>
          </a:prstGeom>
          <a:solidFill>
            <a:srgbClr val="F1F3F4"/>
          </a:solidFill>
          <a:ln w="635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000" tIns="60000" rIns="95000" bIns="60000" rtlCol="0" anchor="ctr"/>
          <a:lstStyle/>
          <a:p>
            <a:pPr algn="ctr"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  "</a:t>
            </a:r>
            <a:r>
              <a:rPr sz="1000" dirty="0" err="1">
                <a:solidFill>
                  <a:srgbClr val="1A1A1A"/>
                </a:solidFill>
                <a:latin typeface="Courier New"/>
              </a:rPr>
              <a:t>cell_type</a:t>
            </a:r>
            <a:r>
              <a:rPr sz="1000" dirty="0">
                <a:solidFill>
                  <a:srgbClr val="1A1A1A"/>
                </a:solidFill>
                <a:latin typeface="Courier New"/>
              </a:rPr>
              <a:t>": "HEK293",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  "</a:t>
            </a:r>
            <a:r>
              <a:rPr sz="1000" dirty="0" err="1">
                <a:solidFill>
                  <a:srgbClr val="1A1A1A"/>
                </a:solidFill>
                <a:latin typeface="Courier New"/>
              </a:rPr>
              <a:t>cas_variant</a:t>
            </a:r>
            <a:r>
              <a:rPr sz="1000" dirty="0">
                <a:solidFill>
                  <a:srgbClr val="1A1A1A"/>
                </a:solidFill>
                <a:latin typeface="Courier New"/>
              </a:rPr>
              <a:t>": "SpCas9",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  "</a:t>
            </a:r>
            <a:r>
              <a:rPr sz="1000" dirty="0" err="1">
                <a:solidFill>
                  <a:srgbClr val="1A1A1A"/>
                </a:solidFill>
                <a:latin typeface="Courier New"/>
              </a:rPr>
              <a:t>edit_type</a:t>
            </a:r>
            <a:r>
              <a:rPr sz="1000" dirty="0">
                <a:solidFill>
                  <a:srgbClr val="1A1A1A"/>
                </a:solidFill>
                <a:latin typeface="Courier New"/>
              </a:rPr>
              <a:t>": "knockout",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  "</a:t>
            </a:r>
            <a:r>
              <a:rPr sz="1000" dirty="0" err="1">
                <a:solidFill>
                  <a:srgbClr val="1A1A1A"/>
                </a:solidFill>
                <a:latin typeface="Courier New"/>
              </a:rPr>
              <a:t>kit_choice</a:t>
            </a:r>
            <a:r>
              <a:rPr sz="1000" dirty="0">
                <a:solidFill>
                  <a:srgbClr val="1A1A1A"/>
                </a:solidFill>
                <a:latin typeface="Courier New"/>
              </a:rPr>
              <a:t>": "lentiCRISPRv2",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  "</a:t>
            </a:r>
            <a:r>
              <a:rPr sz="1000" dirty="0" err="1">
                <a:solidFill>
                  <a:srgbClr val="1A1A1A"/>
                </a:solidFill>
                <a:latin typeface="Courier New"/>
              </a:rPr>
              <a:t>off_target_risk_profile</a:t>
            </a:r>
            <a:r>
              <a:rPr sz="1000" dirty="0">
                <a:solidFill>
                  <a:srgbClr val="1A1A1A"/>
                </a:solidFill>
                <a:latin typeface="Courier New"/>
              </a:rPr>
              <a:t>": {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    "</a:t>
            </a:r>
            <a:r>
              <a:rPr sz="1000" dirty="0" err="1">
                <a:solidFill>
                  <a:srgbClr val="1A1A1A"/>
                </a:solidFill>
                <a:latin typeface="Courier New"/>
              </a:rPr>
              <a:t>total_off_targets</a:t>
            </a:r>
            <a:r>
              <a:rPr sz="1000" dirty="0">
                <a:solidFill>
                  <a:srgbClr val="1A1A1A"/>
                </a:solidFill>
                <a:latin typeface="Courier New"/>
              </a:rPr>
              <a:t>": 2, ...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  }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767646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dirty="0">
                <a:solidFill>
                  <a:srgbClr val="1A73E8"/>
                </a:solidFill>
                <a:latin typeface="Calibri"/>
              </a:rPr>
              <a:t>Output  (abbreviated)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4114800"/>
            <a:ext cx="6035040" cy="2625178"/>
          </a:xfrm>
          <a:prstGeom prst="roundRect">
            <a:avLst/>
          </a:prstGeom>
          <a:solidFill>
            <a:srgbClr val="F1F3F4"/>
          </a:solidFill>
          <a:ln w="635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000" tIns="60000" rIns="95000" bIns="60000" rtlCol="0" anchor="ctr"/>
          <a:lstStyle/>
          <a:p>
            <a:pPr>
              <a:lnSpc>
                <a:spcPct val="105000"/>
              </a:lnSpc>
            </a:pPr>
            <a:endParaRPr lang="en-US" sz="1000" dirty="0">
              <a:solidFill>
                <a:srgbClr val="1A1A1A"/>
              </a:solidFill>
              <a:latin typeface="Courier New"/>
            </a:endParaRP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{</a:t>
            </a:r>
            <a:endParaRPr lang="en-US" sz="1000" dirty="0">
              <a:solidFill>
                <a:srgbClr val="1A1A1A"/>
              </a:solidFill>
              <a:latin typeface="Courier New"/>
            </a:endParaRP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"</a:t>
            </a:r>
            <a:r>
              <a:rPr sz="1000" dirty="0" err="1">
                <a:solidFill>
                  <a:srgbClr val="1A1A1A"/>
                </a:solidFill>
                <a:latin typeface="Courier New"/>
              </a:rPr>
              <a:t>top_recommendation</a:t>
            </a:r>
            <a:r>
              <a:rPr sz="1000" dirty="0">
                <a:solidFill>
                  <a:srgbClr val="1A1A1A"/>
                </a:solidFill>
                <a:latin typeface="Courier New"/>
              </a:rPr>
              <a:t>": "Lipofection",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  "</a:t>
            </a:r>
            <a:r>
              <a:rPr sz="1000" dirty="0" err="1">
                <a:solidFill>
                  <a:srgbClr val="1A1A1A"/>
                </a:solidFill>
                <a:latin typeface="Courier New"/>
              </a:rPr>
              <a:t>ranked_methods</a:t>
            </a:r>
            <a:r>
              <a:rPr sz="1000" dirty="0">
                <a:solidFill>
                  <a:srgbClr val="1A1A1A"/>
                </a:solidFill>
                <a:latin typeface="Courier New"/>
              </a:rPr>
              <a:t>": [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    { "method": "Lipofection",        "suitability": "high",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      "citations": ["lipofection"] },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    { "method": "RNP electroporation", "suitability": "high",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      "citations": ["</a:t>
            </a:r>
            <a:r>
              <a:rPr sz="1000" dirty="0" err="1">
                <a:solidFill>
                  <a:srgbClr val="1A1A1A"/>
                </a:solidFill>
                <a:latin typeface="Courier New"/>
              </a:rPr>
              <a:t>rnp_electroporation</a:t>
            </a:r>
            <a:r>
              <a:rPr sz="1000" dirty="0">
                <a:solidFill>
                  <a:srgbClr val="1A1A1A"/>
                </a:solidFill>
                <a:latin typeface="Courier New"/>
              </a:rPr>
              <a:t>"] }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  ],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  "</a:t>
            </a:r>
            <a:r>
              <a:rPr sz="1000" dirty="0" err="1">
                <a:solidFill>
                  <a:srgbClr val="1A1A1A"/>
                </a:solidFill>
                <a:latin typeface="Courier New"/>
              </a:rPr>
              <a:t>kit_choice_consistency</a:t>
            </a:r>
            <a:r>
              <a:rPr sz="1000" dirty="0">
                <a:solidFill>
                  <a:srgbClr val="1A1A1A"/>
                </a:solidFill>
                <a:latin typeface="Courier New"/>
              </a:rPr>
              <a:t>": {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    "</a:t>
            </a:r>
            <a:r>
              <a:rPr sz="1000" dirty="0" err="1">
                <a:solidFill>
                  <a:srgbClr val="1A1A1A"/>
                </a:solidFill>
                <a:latin typeface="Courier New"/>
              </a:rPr>
              <a:t>kit_choice</a:t>
            </a:r>
            <a:r>
              <a:rPr sz="1000" dirty="0">
                <a:solidFill>
                  <a:srgbClr val="1A1A1A"/>
                </a:solidFill>
                <a:latin typeface="Courier New"/>
              </a:rPr>
              <a:t>":  "lentiCRISPRv2",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    "consistent":  false,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    "note": "Integrating lentivirus adds off-target risk;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             transient lipofection preferred for HEK293 KO."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  }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A1A1A"/>
                </a:solidFill>
                <a:latin typeface="Calibri"/>
              </a:rPr>
              <a:t>Architecture — Hybrid Prefilter + KB-Grounded LLM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737360" cy="64008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40000" rIns="50000" bIns="40000" rtlCol="0" anchor="ctr"/>
          <a:lstStyle/>
          <a:p>
            <a:pPr algn="ctr"/>
            <a:r>
              <a:rPr sz="1100" b="1">
                <a:solidFill>
                  <a:srgbClr val="1A1A1A"/>
                </a:solidFill>
                <a:latin typeface="Calibri"/>
              </a:rPr>
              <a:t>Input</a:t>
            </a:r>
          </a:p>
          <a:p>
            <a:pPr algn="ctr">
              <a:lnSpc>
                <a:spcPct val="105000"/>
              </a:lnSpc>
            </a:pPr>
            <a:r>
              <a:rPr sz="850">
                <a:solidFill>
                  <a:srgbClr val="555555"/>
                </a:solidFill>
                <a:latin typeface="Calibri"/>
              </a:rPr>
              <a:t>cell_type, cas_variant,
edit_type  /  construct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212848" y="1261872"/>
            <a:ext cx="192024" cy="12801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23160" y="1005840"/>
            <a:ext cx="1737360" cy="640080"/>
          </a:xfrm>
          <a:prstGeom prst="roundRect">
            <a:avLst/>
          </a:prstGeom>
          <a:solidFill>
            <a:srgbClr val="FEF3E2"/>
          </a:solidFill>
          <a:ln w="9525">
            <a:solidFill>
              <a:srgbClr val="F2B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40000" rIns="50000" bIns="40000" rtlCol="0" anchor="ctr"/>
          <a:lstStyle/>
          <a:p>
            <a:pPr algn="ctr"/>
            <a:r>
              <a:rPr sz="1100" b="1">
                <a:solidFill>
                  <a:srgbClr val="1A1A1A"/>
                </a:solidFill>
                <a:latin typeface="Calibri"/>
              </a:rPr>
              <a:t>_prefilter</a:t>
            </a:r>
          </a:p>
          <a:p>
            <a:pPr algn="ctr">
              <a:lnSpc>
                <a:spcPct val="105000"/>
              </a:lnSpc>
            </a:pPr>
            <a:r>
              <a:rPr sz="850">
                <a:solidFill>
                  <a:srgbClr val="555555"/>
                </a:solidFill>
                <a:latin typeface="Calibri"/>
              </a:rPr>
              <a:t>AAV limit, plant/rodent,
zygote-only rules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78808" y="1261872"/>
            <a:ext cx="192024" cy="12801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89120" y="1005840"/>
            <a:ext cx="1737360" cy="64008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40000" rIns="50000" bIns="40000" rtlCol="0" anchor="ctr"/>
          <a:lstStyle/>
          <a:p>
            <a:pPr algn="ctr"/>
            <a:r>
              <a:rPr sz="1100" b="1">
                <a:solidFill>
                  <a:srgbClr val="1A1A1A"/>
                </a:solidFill>
                <a:latin typeface="Calibri"/>
              </a:rPr>
              <a:t>Render KB</a:t>
            </a:r>
          </a:p>
          <a:p>
            <a:pPr algn="ctr">
              <a:lnSpc>
                <a:spcPct val="105000"/>
              </a:lnSpc>
            </a:pPr>
            <a:r>
              <a:rPr sz="850">
                <a:solidFill>
                  <a:srgbClr val="555555"/>
                </a:solidFill>
                <a:latin typeface="Calibri"/>
              </a:rPr>
              <a:t>methods.json — 17 methods,
cargo table, heuristics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44768" y="1261872"/>
            <a:ext cx="192024" cy="12801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55080" y="1005840"/>
            <a:ext cx="1737360" cy="640080"/>
          </a:xfrm>
          <a:prstGeom prst="roundRect">
            <a:avLst/>
          </a:prstGeom>
          <a:solidFill>
            <a:srgbClr val="EAF3FD"/>
          </a:solidFill>
          <a:ln w="9525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40000" rIns="50000" bIns="40000" rtlCol="0" anchor="ctr"/>
          <a:lstStyle/>
          <a:p>
            <a:pPr algn="ctr"/>
            <a:r>
              <a:rPr sz="1100" b="1">
                <a:solidFill>
                  <a:srgbClr val="1A1A1A"/>
                </a:solidFill>
                <a:latin typeface="Calibri"/>
              </a:rPr>
              <a:t>Claude Haiku 4.5</a:t>
            </a:r>
          </a:p>
          <a:p>
            <a:pPr algn="ctr">
              <a:lnSpc>
                <a:spcPct val="105000"/>
              </a:lnSpc>
            </a:pPr>
            <a:r>
              <a:rPr sz="850">
                <a:solidFill>
                  <a:srgbClr val="555555"/>
                </a:solidFill>
                <a:latin typeface="Calibri"/>
              </a:rPr>
              <a:t>KB + schema in system,
case + kit_choice in user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110728" y="1261872"/>
            <a:ext cx="192024" cy="12801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321040" y="1005840"/>
            <a:ext cx="1737360" cy="640080"/>
          </a:xfrm>
          <a:prstGeom prst="roundRect">
            <a:avLst/>
          </a:prstGeom>
          <a:solidFill>
            <a:srgbClr val="E6F4EA"/>
          </a:solidFill>
          <a:ln w="9525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40000" rIns="50000" bIns="40000" rtlCol="0" anchor="ctr"/>
          <a:lstStyle/>
          <a:p>
            <a:pPr algn="ctr"/>
            <a:r>
              <a:rPr sz="1100" b="1">
                <a:solidFill>
                  <a:srgbClr val="1A1A1A"/>
                </a:solidFill>
                <a:latin typeface="Calibri"/>
              </a:rPr>
              <a:t>Validate citations</a:t>
            </a:r>
          </a:p>
          <a:p>
            <a:pPr algn="ctr">
              <a:lnSpc>
                <a:spcPct val="105000"/>
              </a:lnSpc>
            </a:pPr>
            <a:r>
              <a:rPr sz="850">
                <a:solidFill>
                  <a:srgbClr val="555555"/>
                </a:solidFill>
                <a:latin typeface="Calibri"/>
              </a:rPr>
              <a:t>every rec cites a real
KB key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076688" y="1261872"/>
            <a:ext cx="192024" cy="12801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287000" y="1005840"/>
            <a:ext cx="1737360" cy="640080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40000" rIns="50000" bIns="40000" rtlCol="0" anchor="ctr"/>
          <a:lstStyle/>
          <a:p>
            <a:pPr algn="ctr"/>
            <a:r>
              <a:rPr sz="1100" b="1">
                <a:solidFill>
                  <a:srgbClr val="1A1A1A"/>
                </a:solidFill>
                <a:latin typeface="Calibri"/>
              </a:rPr>
              <a:t>Output</a:t>
            </a:r>
          </a:p>
          <a:p>
            <a:pPr algn="ctr">
              <a:lnSpc>
                <a:spcPct val="105000"/>
              </a:lnSpc>
            </a:pPr>
            <a:r>
              <a:rPr sz="850">
                <a:solidFill>
                  <a:srgbClr val="555555"/>
                </a:solidFill>
                <a:latin typeface="Calibri"/>
              </a:rPr>
              <a:t>top_rec · ranked methods
w/ citations · kit_consistency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01168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73E8"/>
                </a:solidFill>
                <a:latin typeface="Calibri"/>
              </a:rPr>
              <a:t>What makes it unique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68880"/>
            <a:ext cx="56692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1A73E8"/>
                </a:solidFill>
                <a:latin typeface="Calibri"/>
              </a:rPr>
              <a:t>• </a:t>
            </a:r>
            <a:r>
              <a:rPr sz="1200">
                <a:solidFill>
                  <a:srgbClr val="1A1A1A"/>
                </a:solidFill>
                <a:latin typeface="Calibri"/>
              </a:rPr>
              <a:t>Deterministic prefilter kills infeasible methods before the LLM sees them — no hallucinated "single AAV for ABE8e."</a:t>
            </a:r>
          </a:p>
          <a:p>
            <a:pPr>
              <a:lnSpc>
                <a:spcPct val="125000"/>
              </a:lnSpc>
            </a:pPr>
            <a:r>
              <a:rPr sz="1200" b="1">
                <a:solidFill>
                  <a:srgbClr val="1A73E8"/>
                </a:solidFill>
                <a:latin typeface="Calibri"/>
              </a:rPr>
              <a:t>• </a:t>
            </a:r>
            <a:r>
              <a:rPr sz="1200">
                <a:solidFill>
                  <a:srgbClr val="1A1A1A"/>
                </a:solidFill>
                <a:latin typeface="Calibri"/>
              </a:rPr>
              <a:t>KB lives as versioned JSON (data/methods.json) — every rule change is reviewed in git diff.</a:t>
            </a:r>
          </a:p>
          <a:p>
            <a:pPr>
              <a:lnSpc>
                <a:spcPct val="125000"/>
              </a:lnSpc>
            </a:pPr>
            <a:r>
              <a:rPr sz="1200" b="1">
                <a:solidFill>
                  <a:srgbClr val="1A73E8"/>
                </a:solidFill>
                <a:latin typeface="Calibri"/>
              </a:rPr>
              <a:t>• </a:t>
            </a:r>
            <a:r>
              <a:rPr sz="1200">
                <a:solidFill>
                  <a:srgbClr val="1A1A1A"/>
                </a:solidFill>
                <a:latin typeface="Calibri"/>
              </a:rPr>
              <a:t>Citation enforcement — each recommendation cites a real KB key; unknown keys trigger _citation_warnings.</a:t>
            </a:r>
          </a:p>
          <a:p>
            <a:pPr>
              <a:lnSpc>
                <a:spcPct val="125000"/>
              </a:lnSpc>
            </a:pPr>
            <a:r>
              <a:rPr sz="1200" b="1">
                <a:solidFill>
                  <a:srgbClr val="1A73E8"/>
                </a:solidFill>
                <a:latin typeface="Calibri"/>
              </a:rPr>
              <a:t>• </a:t>
            </a:r>
            <a:r>
              <a:rPr sz="1200">
                <a:solidFill>
                  <a:srgbClr val="1A1A1A"/>
                </a:solidFill>
                <a:latin typeface="Calibri"/>
              </a:rPr>
              <a:t>Pipeline audit — when called with a construct, compares the upstream kit_choice to the top recommendation and explains any disagreement.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1168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8E3E"/>
                </a:solidFill>
                <a:latin typeface="Calibri"/>
              </a:rPr>
              <a:t>Testing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468880"/>
            <a:ext cx="5349240" cy="2057400"/>
          </a:xfrm>
          <a:prstGeom prst="roundRect">
            <a:avLst/>
          </a:prstGeom>
          <a:solidFill>
            <a:srgbClr val="E6F4EA"/>
          </a:solidFill>
          <a:ln w="635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560320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E8E3E"/>
                </a:solidFill>
                <a:latin typeface="Calibri"/>
              </a:rPr>
              <a:t>26 pytests  (tests/test_delivery_advisor.py)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880360"/>
            <a:ext cx="48920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1">
                <a:solidFill>
                  <a:srgbClr val="1E8E3E"/>
                </a:solidFill>
                <a:latin typeface="Calibri"/>
              </a:rPr>
              <a:t>• </a:t>
            </a:r>
            <a:r>
              <a:rPr sz="1100">
                <a:solidFill>
                  <a:srgbClr val="1A1A1A"/>
                </a:solidFill>
                <a:latin typeface="Calibri"/>
              </a:rPr>
              <a:t>Input validation, response schema, citation validity</a:t>
            </a:r>
          </a:p>
          <a:p>
            <a:pPr>
              <a:lnSpc>
                <a:spcPct val="125000"/>
              </a:lnSpc>
            </a:pPr>
            <a:r>
              <a:rPr sz="1100" b="1">
                <a:solidFill>
                  <a:srgbClr val="1E8E3E"/>
                </a:solidFill>
                <a:latin typeface="Calibri"/>
              </a:rPr>
              <a:t>• </a:t>
            </a:r>
            <a:r>
              <a:rPr sz="1100">
                <a:solidFill>
                  <a:srgbClr val="1A1A1A"/>
                </a:solidFill>
                <a:latin typeface="Calibri"/>
              </a:rPr>
              <a:t>Biology edge cases: ABE8e &gt; AAV limit, plant cells, in-vivo brain (CNS tropism), clinical T cells</a:t>
            </a:r>
          </a:p>
          <a:p>
            <a:pPr>
              <a:lnSpc>
                <a:spcPct val="125000"/>
              </a:lnSpc>
            </a:pPr>
            <a:r>
              <a:rPr sz="1100" b="1">
                <a:solidFill>
                  <a:srgbClr val="1E8E3E"/>
                </a:solidFill>
                <a:latin typeface="Calibri"/>
              </a:rPr>
              <a:t>• </a:t>
            </a:r>
            <a:r>
              <a:rPr sz="1100">
                <a:solidFill>
                  <a:srgbClr val="1A1A1A"/>
                </a:solidFill>
                <a:latin typeface="Calibri"/>
              </a:rPr>
              <a:t>5 pipeline-integration tests — construct path + kit-choice audit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663440"/>
            <a:ext cx="5349240" cy="1417320"/>
          </a:xfrm>
          <a:prstGeom prst="roundRect">
            <a:avLst/>
          </a:prstGeom>
          <a:solidFill>
            <a:srgbClr val="EAF3FD"/>
          </a:solidFill>
          <a:ln w="63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4754880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73E8"/>
                </a:solidFill>
                <a:latin typeface="Calibri"/>
              </a:rPr>
              <a:t>20-case accuracy eval  (tests/eval_delivery_advisor.py)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074920"/>
            <a:ext cx="48920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 b="1">
                <a:solidFill>
                  <a:srgbClr val="1A73E8"/>
                </a:solidFill>
                <a:latin typeface="Calibri"/>
              </a:rPr>
              <a:t>• </a:t>
            </a:r>
            <a:r>
              <a:rPr sz="1100">
                <a:solidFill>
                  <a:srgbClr val="1A1A1A"/>
                </a:solidFill>
                <a:latin typeface="Calibri"/>
              </a:rPr>
              <a:t>Reports top-rec accuracy, citation validity, kit consistency</a:t>
            </a:r>
          </a:p>
          <a:p>
            <a:pPr>
              <a:lnSpc>
                <a:spcPct val="125000"/>
              </a:lnSpc>
            </a:pPr>
            <a:r>
              <a:rPr sz="1100" b="1">
                <a:solidFill>
                  <a:srgbClr val="1A73E8"/>
                </a:solidFill>
                <a:latin typeface="Calibri"/>
              </a:rPr>
              <a:t>• </a:t>
            </a:r>
            <a:r>
              <a:rPr sz="1100">
                <a:solidFill>
                  <a:srgbClr val="1A1A1A"/>
                </a:solidFill>
                <a:latin typeface="Calibri"/>
              </a:rPr>
              <a:t>Live example: pipeline-kit-mismatch → top="lipofection", consistent=False 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603</Words>
  <Application>Microsoft Macintosh PowerPoint</Application>
  <PresentationFormat>Widescreen</PresentationFormat>
  <Paragraphs>62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Courier New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Trinav Chaudhuri</cp:lastModifiedBy>
  <cp:revision>6</cp:revision>
  <dcterms:created xsi:type="dcterms:W3CDTF">2013-01-27T09:14:16Z</dcterms:created>
  <dcterms:modified xsi:type="dcterms:W3CDTF">2026-04-24T02:35:33Z</dcterms:modified>
  <cp:category/>
</cp:coreProperties>
</file>